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3" r:id="rId55"/>
    <p:sldId id="314" r:id="rId56"/>
    <p:sldId id="315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68C"/>
    <a:srgbClr val="A3B5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4B84"/>
                </a:solidFill>
                <a:latin typeface="Calibri"/>
              </a:defRPr>
            </a:pPr>
            <a:r>
              <a:t>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2545"/>
                </a:solidFill>
                <a:latin typeface="Calibri"/>
              </a:defRPr>
            </a:pPr>
            <a:r>
              <a:t>AI-Based Analog Layout Automation: A Conversational, Multi-Agent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Mohammed Magdy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SPICE Parser &amp;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0175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Noureldin Ayman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LangGraph Placer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0175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Ahmed Khairat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DRC Critic Spatial Healing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Mohammed Wael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PySide6 Canvas GUI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9319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Omar Ahmed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Chatbot Co-Pilot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931920"/>
            <a:ext cx="3017520" cy="685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Eman Sherif</a:t>
            </a:r>
          </a:p>
          <a:p>
            <a:pPr algn="ctr">
              <a:defRPr sz="950">
                <a:solidFill>
                  <a:srgbClr val="2B2B2B"/>
                </a:solidFill>
                <a:latin typeface="Calibri"/>
              </a:defRPr>
            </a:pPr>
            <a:r>
              <a:t>Diffusion Compaction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2B2B"/>
                </a:solidFill>
                <a:latin typeface="Calibri"/>
              </a:defRPr>
            </a:pPr>
            <a:r>
              <a:t>Submitted To: Prof. DiaaEldin S. Khalil</a:t>
            </a:r>
          </a:p>
          <a:p>
            <a:pPr algn="ctr">
              <a:spcBef>
                <a:spcPts val="400"/>
              </a:spcBef>
              <a:defRPr sz="1200">
                <a:solidFill>
                  <a:srgbClr val="1A4B84"/>
                </a:solidFill>
                <a:latin typeface="Calibri"/>
              </a:defRPr>
            </a:pPr>
            <a:r>
              <a:t>SI-Vision  |  Ain Shams University Faculty of Engineering</a:t>
            </a:r>
          </a:p>
        </p:txBody>
      </p:sp>
      <p:pic>
        <p:nvPicPr>
          <p:cNvPr id="14" name="Picture 13" descr="ASU.png">
            <a:extLst>
              <a:ext uri="{FF2B5EF4-FFF2-40B4-BE49-F238E27FC236}">
                <a16:creationId xmlns:a16="http://schemas.microsoft.com/office/drawing/2014/main" id="{95A1A906-C613-D1FB-D30B-150B5B1B36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135" y="4977634"/>
            <a:ext cx="1629736" cy="1698137"/>
          </a:xfrm>
          <a:prstGeom prst="rect">
            <a:avLst/>
          </a:prstGeom>
        </p:spPr>
      </p:pic>
      <p:pic>
        <p:nvPicPr>
          <p:cNvPr id="15" name="Picture 14" descr="SI.png">
            <a:extLst>
              <a:ext uri="{FF2B5EF4-FFF2-40B4-BE49-F238E27FC236}">
                <a16:creationId xmlns:a16="http://schemas.microsoft.com/office/drawing/2014/main" id="{DEFCAE36-ECCC-4890-19E5-86501BE7CC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5883" y="4974789"/>
            <a:ext cx="1700981" cy="1700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Execution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45720" cy="475488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7300" y="1444752"/>
            <a:ext cx="274320" cy="274320"/>
          </a:xfrm>
          <a:prstGeom prst="ellipse">
            <a:avLst/>
          </a:prstGeom>
          <a:solidFill>
            <a:srgbClr val="1A4B8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37160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1A4B84"/>
                </a:solidFill>
                <a:latin typeface="Calibri"/>
              </a:defRPr>
            </a:pPr>
            <a:r>
              <a:t>Import &amp; Ingest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Ingests SPICE netlist and resolves PDK fin/poly track snapping bounds.</a:t>
            </a:r>
          </a:p>
        </p:txBody>
      </p:sp>
      <p:sp>
        <p:nvSpPr>
          <p:cNvPr id="11" name="Oval 10"/>
          <p:cNvSpPr/>
          <p:nvPr/>
        </p:nvSpPr>
        <p:spPr>
          <a:xfrm>
            <a:off x="1257300" y="2221992"/>
            <a:ext cx="274320" cy="274320"/>
          </a:xfrm>
          <a:prstGeom prst="ellipse">
            <a:avLst/>
          </a:prstGeom>
          <a:solidFill>
            <a:srgbClr val="1C7C5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1C7C54"/>
                </a:solidFill>
                <a:latin typeface="Calibri"/>
              </a:defRPr>
            </a:pPr>
            <a:r>
              <a:t>Symmetry Match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NetworkX bipartite graph detects matching pairs (diff pairs, mirrors).</a:t>
            </a:r>
          </a:p>
        </p:txBody>
      </p:sp>
      <p:sp>
        <p:nvSpPr>
          <p:cNvPr id="13" name="Oval 12"/>
          <p:cNvSpPr/>
          <p:nvPr/>
        </p:nvSpPr>
        <p:spPr>
          <a:xfrm>
            <a:off x="1257300" y="2999232"/>
            <a:ext cx="274320" cy="274320"/>
          </a:xfrm>
          <a:prstGeom prst="ellipse">
            <a:avLst/>
          </a:prstGeom>
          <a:solidFill>
            <a:srgbClr val="005F7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292608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005F73"/>
                </a:solidFill>
                <a:latin typeface="Calibri"/>
              </a:defRPr>
            </a:pPr>
            <a:r>
              <a:t>AI Initial Placement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LangGraph Specialist agent generates initial symbolic layouts.</a:t>
            </a:r>
          </a:p>
        </p:txBody>
      </p:sp>
      <p:sp>
        <p:nvSpPr>
          <p:cNvPr id="15" name="Oval 14"/>
          <p:cNvSpPr/>
          <p:nvPr/>
        </p:nvSpPr>
        <p:spPr>
          <a:xfrm>
            <a:off x="1257300" y="3776472"/>
            <a:ext cx="274320" cy="274320"/>
          </a:xfrm>
          <a:prstGeom prst="ellipse">
            <a:avLst/>
          </a:prstGeom>
          <a:solidFill>
            <a:srgbClr val="C5A05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370332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C5A059"/>
                </a:solidFill>
                <a:latin typeface="Calibri"/>
              </a:defRPr>
            </a:pPr>
            <a:r>
              <a:t>DRC Self-Healing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Sweepline Spacing Critic loops corrections to Planner node.</a:t>
            </a:r>
          </a:p>
        </p:txBody>
      </p:sp>
      <p:sp>
        <p:nvSpPr>
          <p:cNvPr id="17" name="Oval 16"/>
          <p:cNvSpPr/>
          <p:nvPr/>
        </p:nvSpPr>
        <p:spPr>
          <a:xfrm>
            <a:off x="1257300" y="4553712"/>
            <a:ext cx="274320" cy="274320"/>
          </a:xfrm>
          <a:prstGeom prst="ellipse">
            <a:avLst/>
          </a:prstGeom>
          <a:solidFill>
            <a:srgbClr val="E65A2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448056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E65A28"/>
                </a:solidFill>
                <a:latin typeface="Calibri"/>
              </a:defRPr>
            </a:pPr>
            <a:r>
              <a:t>Visual Review &amp; Chat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Designer inspects layout canvas and overrides parameters via chat.</a:t>
            </a:r>
          </a:p>
        </p:txBody>
      </p:sp>
      <p:sp>
        <p:nvSpPr>
          <p:cNvPr id="19" name="Oval 18"/>
          <p:cNvSpPr/>
          <p:nvPr/>
        </p:nvSpPr>
        <p:spPr>
          <a:xfrm>
            <a:off x="1257300" y="5330952"/>
            <a:ext cx="274320" cy="274320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5257800"/>
            <a:ext cx="960120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50" b="1">
                <a:solidFill>
                  <a:srgbClr val="0B2545"/>
                </a:solidFill>
                <a:latin typeface="Calibri"/>
              </a:defRPr>
            </a:pPr>
            <a:r>
              <a:t>Physical Exporter</a:t>
            </a:r>
          </a:p>
          <a:p>
            <a:pPr>
              <a:spcBef>
                <a:spcPts val="1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Gdstk generates binary GDSII/OASIS; watchdog inserts to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1: 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The Layout Bottleneck, PDK Complexity, and Automation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Revolutionising IC Design: The AI-Assisted Symbolic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4937760" cy="21031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493776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4B84"/>
                </a:solidFill>
                <a:latin typeface="Calibri"/>
              </a:defRPr>
            </a:pPr>
            <a:r>
              <a:t>The Complexity Barrier</a:t>
            </a:r>
          </a:p>
          <a:p>
            <a:pPr>
              <a:spcBef>
                <a:spcPts val="400"/>
              </a:spcBef>
              <a:defRPr sz="1150">
                <a:solidFill>
                  <a:srgbClr val="2B2B2B"/>
                </a:solidFill>
                <a:latin typeface="Calibri"/>
              </a:defRPr>
            </a:pPr>
            <a:r>
              <a:t>• Manual sub-micron geometries are too complex for direct AI coordinate mapping.</a:t>
            </a:r>
          </a:p>
          <a:p>
            <a:pPr>
              <a:defRPr sz="1150">
                <a:solidFill>
                  <a:srgbClr val="2B2B2B"/>
                </a:solidFill>
                <a:latin typeface="Calibri"/>
              </a:defRPr>
            </a:pPr>
            <a:r>
              <a:t>• Inflexible analytical cost functions fail to capture high-level qualitative designer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639312"/>
            <a:ext cx="4937760" cy="2651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4937760" cy="2651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4B84"/>
                </a:solidFill>
                <a:latin typeface="Calibri"/>
              </a:defRPr>
            </a:pPr>
            <a:r>
              <a:t>Intelligent Symbolic Representation</a:t>
            </a:r>
          </a:p>
          <a:p>
            <a:pPr>
              <a:spcBef>
                <a:spcPts val="400"/>
              </a:spcBef>
              <a:defRPr sz="1150">
                <a:solidFill>
                  <a:srgbClr val="2B2B2B"/>
                </a:solidFill>
                <a:latin typeface="Calibri"/>
              </a:defRPr>
            </a:pPr>
            <a:r>
              <a:t>• Decouples layout: strategic planning (LLM) and geometric grid-snapping compilation.</a:t>
            </a:r>
          </a:p>
          <a:p>
            <a:pPr>
              <a:defRPr sz="1150">
                <a:solidFill>
                  <a:srgbClr val="2B2B2B"/>
                </a:solidFill>
                <a:latin typeface="Calibri"/>
              </a:defRPr>
            </a:pPr>
            <a:r>
              <a:t>• Translates absolute shapes into logical parameters (ordering, orientations, finger splits) readable by both humans and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09728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B2545"/>
                </a:solidFill>
                <a:latin typeface="Calibri"/>
              </a:defRPr>
            </a:pPr>
            <a:r>
              <a:t>The 3-Step Optimisation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1536192"/>
            <a:ext cx="576072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5760720" cy="1005840"/>
          </a:xfrm>
          <a:prstGeom prst="roundRect">
            <a:avLst/>
          </a:prstGeom>
          <a:solidFill>
            <a:srgbClr val="FDFBF7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1. Ingestion &amp; AI Proposal</a:t>
            </a:r>
          </a:p>
          <a:p>
            <a:pPr>
              <a:spcBef>
                <a:spcPts val="3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Parses SPICE netlists, detects symmetry matching groups, and suggests initial relative configurations.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2633472"/>
            <a:ext cx="576072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52160" y="2560320"/>
            <a:ext cx="5760720" cy="1005840"/>
          </a:xfrm>
          <a:prstGeom prst="roundRect">
            <a:avLst/>
          </a:prstGeom>
          <a:solidFill>
            <a:srgbClr val="FDFBF7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2. Human-in-the-Loop Refinement</a:t>
            </a:r>
          </a:p>
          <a:p>
            <a:pPr>
              <a:spcBef>
                <a:spcPts val="3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Designer uses an interactive canvas editor to modify placements and type conversational chat prompt overrides.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3730752"/>
            <a:ext cx="576072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2160" y="3657600"/>
            <a:ext cx="5760720" cy="1005840"/>
          </a:xfrm>
          <a:prstGeom prst="roundRect">
            <a:avLst/>
          </a:prstGeom>
          <a:solidFill>
            <a:srgbClr val="FDFBF7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3. Snapping &amp; Physical Conversion</a:t>
            </a:r>
          </a:p>
          <a:p>
            <a:pPr>
              <a:spcBef>
                <a:spcPts val="3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Deterministic compiler snapping compresses layout boundaries and outputs binary GDSII/OASIS streams.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52160" y="4846320"/>
          <a:ext cx="5760720" cy="15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Component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EDA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Parses netlist and translates symbolic parameters back to database layout.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AI / LLM Engine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Analyzes block relationships and optimizes layouts via conversational loops.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Visualizer 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Provides an interactive canvas editor for manual overrides and chat inputs.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Introduction: Manual Analog Layout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The Traditional Analog Layout Flow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Human-Dominated Process: Translation of schematic netlist to layout geometries relies heavily on manual expert drawing.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High Complexity: Requires strict compliance with design rules (DRC), device symmetry matching, and parasitic minimization.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Time-Consuming: Layout phase consumes up to 50% of the entire IC design cycle, slowing time-to-market.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Need for Automation &amp; Symmetry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Cycle Compression: Shifting to automated layout can compress design cycles from weeks to minutes.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Matching Crucial: Symmetrical placements (e.g. diff pairs) are mandatory to cancel spatial process variations.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Interactive Interface: Engineers must be able to specify spatial constraints without writing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Introduction: Challenges in Modern PDKs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6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Restricted Design Rules (RDRs)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Sub-20nm PDKs: Deep sub-micron nodes impose strict spacing limits on active diffusions, poly gates, and metals.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Guard Rings: Boundary guard rings are mandatory to avoid latch-up and shield active transistors from bulk noise.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Snapping Constraints: Poly gates and fins must align to discrete pitches, restricting spacing configurations.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Layout-Dependent Effects (LDE)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Well Proximity Effect (WPE): Ion scatter off well edges changes transistor threshold voltage depending on well distance.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Shallow Trench Isolation (STI): Compressive mechanical stress on active active-area alters channel mobilities based on isolation edge proximity.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Impact: Compaction must minimize LDE while maintaining high packing density.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Introduction: Limitations of Existing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7</a:t>
            </a:fld>
            <a:endParaRPr lang="en-US" sz="1000"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Methodology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Limitations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Procedural Generators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Hard-coded scripts for specific cells (e.g., Berkeley Analog Generator)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High development and maintenance overhead; zero portability across PDK nodes.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Analytical Placers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Analytical cost function optimization (Simulated Annealing, ILP, Force-Directed)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Black-box execution; fails to incorporate qualitative designer intent and preferences.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GenAI Layout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Textual layout tokenizers (e.g., GLayout, LLM-coordinate output)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Highly susceptible to coordinate arithmetic hallucinations and PDK spacing rounding errors.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Introduction: The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8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Decoupled Strategic &amp; Geometric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Strategic Planning: Powered by LLM agents. Reasons about symbolic relative ordering (ordering, orientations, finger splits) rather than raw dimensions.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Deterministic Compiler: Snaps symbolic placements to physical sub-micron tracks, enforcing PDK spacing and boundary checks.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Human-in-the-Loop: A conversational PySide6 editor panel dynamically captures designer intent, bridging AI and canvas.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Closed-Loop Correctness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Sweepline Spacing Critic: A geometry engine evaluates relative placements against PDK design rules.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Self-Healing: Synthesizes corrective offset constraints (e.g. shift x by 0.1um) and loops until zero DRC violations remain.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Introduction: 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9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Research Questions Addressed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Can LLM agents reason about physical analog layout placement topologies without coordinate hallucinations?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How can we enforce sub-micron design rules and track snapping in a generative AI layout pipeline?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Can we enable real-time interactive user inputs via conversational interfaces?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Presentation Structure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System Architecture: Decoupled Strategic/Geometric paradigm.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1 &amp; 2: Ingestion, Graph Symmetry, and LangGraph Placer-Critic.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3 &amp; 4: PySide6 GUI, XML Command Queues, and Compaction Exporters.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Evaluation: Real 14nm FinFET layouts, area footprints, and parasitics.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2: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Strategic Planning, Geometric Snapping, and the Multi-Agent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10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4-Column Panel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11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24688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EDA Ingestion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Netlist Ingestion: Ingests flat SPICE netlist files (.sp, .cdl).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Device Ingest: Resolves widths (W), fingers (M), and lengths (L).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PDK Snapping Lookups: Maps poly tracks and active fin tracks.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Symmetry Matching: Identifies differential pairs and current mirrors.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353312"/>
            <a:ext cx="24688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280160"/>
            <a:ext cx="24688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4B84"/>
                </a:solidFill>
                <a:latin typeface="Calibri"/>
              </a:defRPr>
            </a:pPr>
            <a:r>
              <a:t>AI/LLM Engine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LangGraph State Machine: Coordinates multi-agent layout crew.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Builder &amp; Specialist: Plans relative row configurations.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DRC Spacing Critic: Checks physical overlaps via Sweepline.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ReAct Loop: Iterates coordinate correction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353312"/>
            <a:ext cx="24688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4688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05F73"/>
                </a:solidFill>
                <a:latin typeface="Calibri"/>
              </a:defRPr>
            </a:pPr>
            <a:r>
              <a:t>Human Co-Pilot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Conversational Panel: Chat interface in PySide6 GUI.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Intent Routing: Routes prompts (move, swap, align, abut).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QThread Worker: Background thread prevents GUI canvas lag.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Command XML Queue: Batch updates via QTimer.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353312"/>
            <a:ext cx="24688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280160"/>
            <a:ext cx="24688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C5A059"/>
                </a:solidFill>
                <a:latin typeface="Calibri"/>
              </a:defRPr>
            </a:pPr>
            <a:r>
              <a:t>Outputs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Compaction Compiler: Compacts physical cell boundaries.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Gdstk Exporter: High-performance binary GDSII/OASIS.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WATCHDOG cc_watcher: TCL watchdog script parses JSON exchange.</a:t>
            </a:r>
          </a:p>
          <a:p>
            <a:pPr>
              <a:spcAft>
                <a:spcPts val="5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Native EDA: Imports layouts in Virtuoso/Custom Compiler.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Strategic &amp; Geometric Separation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12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Strategic Planning Layer (AI Agents)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Relative Ordering: Determines horizontal layout queues of cells (e.g. row0: MM0, MM1, MM2).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Device Configurations: Recommends transistor finger splitting and unrolling to optimize aspect ratio.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Symmetry Matching: Groups transistors into symmetrical common-centroid configurations.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Abstraction: Completely isolated from sub-micron dimensions to eliminate spatial math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Geometric Compiling Layer (Deterministic Engine)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Track Snapping: Aligns gate centers and active regions to quantized PDK fin and poly tracks.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Diffusion Sharing: Merges adjacent transistor source/drains to reduce junction area.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Clearance Compiler: Translates symbolic relative indices into physical spacing dimensions using PDK lookup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4-Stage Compilation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13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Stages 1 &amp; 2 (Backend Core)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1: EDA-Interface Inputs: Ingests SPICE netlists, resolves PDK parameters, and performs graph-isomorphism symmetry detection.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2: AI-Initial Placement: Executes LangGraph cooperative state-machine planner and DRC self-healing critic loops.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Stages 3 &amp; 4 (Frontend &amp; Exporter)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3: ChatBot and GUI Integration: Manages human-in-the-loop conversational panels, intent routing, and thread-safe signal queues.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 4: EDA-Interface Outputs: Executes layout compaction, creates Gdstk OASIS files, and triggers OpenAccess WATCHDOG injection.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4-Stage Compilation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14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164592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645920" cy="118872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SPICE Netlist</a:t>
            </a:r>
            <a:br/>
            <a:r>
              <a:t>Input (.sp / .cdl)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971800"/>
            <a:ext cx="19202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2926080"/>
            <a:ext cx="19202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B2545"/>
                </a:solidFill>
                <a:latin typeface="Calibri"/>
              </a:defRPr>
            </a:pPr>
            <a:r>
              <a:t>Stage 1: Parser</a:t>
            </a:r>
            <a:br/>
            <a:r>
              <a:t>- SPICE Ingestion</a:t>
            </a:r>
            <a:br/>
            <a:r>
              <a:t>- Subgraph Isomorphism</a:t>
            </a:r>
            <a:br/>
            <a:r>
              <a:t>- Symmetry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971800"/>
            <a:ext cx="19202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12080" y="2926080"/>
            <a:ext cx="19202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1A4B84"/>
                </a:solidFill>
                <a:latin typeface="Calibri"/>
              </a:defRPr>
            </a:pPr>
            <a:r>
              <a:t>Stage 2: AI Placer</a:t>
            </a:r>
            <a:br/>
            <a:r>
              <a:t>- LangGraph Planning</a:t>
            </a:r>
            <a:br/>
            <a:r>
              <a:t>- ReAct DRC Healing</a:t>
            </a:r>
            <a:br/>
            <a:r>
              <a:t>- Diffusion Compaction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80" y="2971800"/>
            <a:ext cx="19202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0" y="2926080"/>
            <a:ext cx="19202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05F73"/>
                </a:solidFill>
                <a:latin typeface="Calibri"/>
              </a:defRPr>
            </a:pPr>
            <a:r>
              <a:t>Stage 4: Exporters</a:t>
            </a:r>
            <a:br/>
            <a:r>
              <a:t>- Physical Compaction</a:t>
            </a:r>
            <a:br/>
            <a:r>
              <a:t>- Gdstk OASIS/GDSII</a:t>
            </a:r>
            <a:br/>
            <a:r>
              <a:t>- cc_watcher Watchdog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2971800"/>
            <a:ext cx="155448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49840" y="2926080"/>
            <a:ext cx="1554480" cy="118872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Outputs</a:t>
            </a:r>
            <a:br/>
            <a:r>
              <a:t>- GDSII / OASIS</a:t>
            </a:r>
            <a:br/>
            <a:r>
              <a:t>- OpenAccess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234440"/>
            <a:ext cx="1920240" cy="109728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12080" y="1188720"/>
            <a:ext cx="192024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1C7C54"/>
                </a:solidFill>
                <a:latin typeface="Calibri"/>
              </a:defRPr>
            </a:pPr>
            <a:r>
              <a:t>Stage 3: GUI Co-Pilot</a:t>
            </a:r>
            <a:br/>
            <a:r>
              <a:t>- PySide6 Canvas</a:t>
            </a:r>
            <a:br/>
            <a:r>
              <a:t>- Intent Classifiers</a:t>
            </a:r>
            <a:br/>
            <a:r>
              <a:t>- Conversational Panel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86000" y="3337560"/>
            <a:ext cx="41148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709160" y="3337560"/>
            <a:ext cx="45720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178040" y="3337560"/>
            <a:ext cx="45720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646920" y="3337560"/>
            <a:ext cx="50292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760720" y="2377440"/>
            <a:ext cx="320040" cy="457200"/>
          </a:xfrm>
          <a:prstGeom prst="down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24"/>
          <p:cNvSpPr/>
          <p:nvPr/>
        </p:nvSpPr>
        <p:spPr>
          <a:xfrm>
            <a:off x="6446520" y="2377440"/>
            <a:ext cx="320040" cy="457200"/>
          </a:xfrm>
          <a:prstGeom prst="up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B2B2B"/>
                </a:solidFill>
                <a:latin typeface="Calibri"/>
              </a:defRPr>
            </a:pPr>
            <a:r>
              <a:t>The 4-stage pipeline is completely decoupled: the Strategic AI Planner (Stage 2) recommends relative topologies, which the Snapping and Compaction engines (Stage 4) translate into sub-micron geometries.</a:t>
            </a:r>
          </a:p>
          <a:p>
            <a:pPr>
              <a:spcBef>
                <a:spcPts val="4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Stage 3 acts as the Human-in-the-loop bridge, parsing chat override commands into XML parameters and flushing them asynchronously to redraw the canvas without freezing the thread.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LangGraph Multi-Agent Planning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15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64592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645920" cy="91440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B2545"/>
                </a:solidFill>
                <a:latin typeface="Calibri"/>
              </a:defRPr>
            </a:pPr>
            <a:r>
              <a:t>Input JSON</a:t>
            </a:r>
            <a:br/>
            <a:r>
              <a:t>Logical device netlist &amp; PDK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91640"/>
            <a:ext cx="182880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1645920"/>
            <a:ext cx="182880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4B84"/>
                </a:solidFill>
                <a:latin typeface="Calibri"/>
              </a:defRPr>
            </a:pPr>
            <a:r>
              <a:t>Topology Analyst</a:t>
            </a:r>
            <a:br/>
            <a:r>
              <a:t>Bipartite graph matching of diff-pairs &amp; mirrors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691640"/>
            <a:ext cx="182880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182880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5F73"/>
                </a:solidFill>
                <a:latin typeface="Calibri"/>
              </a:defRPr>
            </a:pPr>
            <a:r>
              <a:t>Strategy Selector</a:t>
            </a:r>
            <a:br/>
            <a:r>
              <a:t>Plans rows, layout symmetry, and centroids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799" y="1691640"/>
            <a:ext cx="192024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98079" y="1645920"/>
            <a:ext cx="192024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B2545"/>
                </a:solidFill>
                <a:latin typeface="Calibri"/>
              </a:defRPr>
            </a:pPr>
            <a:r>
              <a:t>Placement Specialist</a:t>
            </a:r>
            <a:br/>
            <a:r>
              <a:t>Generates strategic relative floorplans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691640"/>
            <a:ext cx="164592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66960" y="1645920"/>
            <a:ext cx="164592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C7C54"/>
                </a:solidFill>
                <a:latin typeface="Calibri"/>
              </a:defRPr>
            </a:pPr>
            <a:r>
              <a:t>Finger Expander</a:t>
            </a:r>
            <a:br/>
            <a:r>
              <a:t>Unrolls fingers &amp; calculates S/D abutment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3611880"/>
            <a:ext cx="164592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66960" y="3566160"/>
            <a:ext cx="164592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C5A059"/>
                </a:solidFill>
                <a:latin typeface="Calibri"/>
              </a:defRPr>
            </a:pPr>
            <a:r>
              <a:t>Routing Previewer</a:t>
            </a:r>
            <a:br/>
            <a:r>
              <a:t>HPWL cost &amp; crossing minimization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799" y="3611880"/>
            <a:ext cx="192024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8079" y="3566160"/>
            <a:ext cx="192024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E65A28"/>
                </a:solidFill>
                <a:latin typeface="Calibri"/>
              </a:defRPr>
            </a:pPr>
            <a:r>
              <a:t>DRC Critic Agent</a:t>
            </a:r>
            <a:br/>
            <a:r>
              <a:t>Sweepline check; extracts violations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3611880"/>
            <a:ext cx="182880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20640" y="3566160"/>
            <a:ext cx="1828800" cy="91440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C7C54"/>
                </a:solidFill>
                <a:latin typeface="Calibri"/>
              </a:defRPr>
            </a:pPr>
            <a:r>
              <a:t>DRC-Clean Layout</a:t>
            </a:r>
            <a:br/>
            <a:r>
              <a:t>Exports unified node coordinate maps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611880"/>
            <a:ext cx="1828800" cy="9144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0" y="3566160"/>
            <a:ext cx="182880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4B84"/>
                </a:solidFill>
                <a:latin typeface="Calibri"/>
              </a:defRPr>
            </a:pPr>
            <a:r>
              <a:t>PySide6 Canvas</a:t>
            </a:r>
            <a:br/>
            <a:r>
              <a:t>Redraws dynamic layout geometries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86000" y="1938528"/>
            <a:ext cx="365760" cy="320040"/>
          </a:xfrm>
          <a:prstGeom prst="rightArrow">
            <a:avLst/>
          </a:prstGeom>
          <a:solidFill>
            <a:srgbClr val="1A4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4663440" y="1938528"/>
            <a:ext cx="36576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7040880" y="1938528"/>
            <a:ext cx="365760" cy="320040"/>
          </a:xfrm>
          <a:prstGeom prst="righ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9509760" y="1938528"/>
            <a:ext cx="365760" cy="32004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10625328" y="2651760"/>
            <a:ext cx="320040" cy="822960"/>
          </a:xfrm>
          <a:prstGeom prst="down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eft Arrow 30"/>
          <p:cNvSpPr/>
          <p:nvPr/>
        </p:nvSpPr>
        <p:spPr>
          <a:xfrm>
            <a:off x="9509760" y="3858768"/>
            <a:ext cx="365760" cy="320040"/>
          </a:xfrm>
          <a:prstGeom prst="lef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eft Arrow 31"/>
          <p:cNvSpPr/>
          <p:nvPr/>
        </p:nvSpPr>
        <p:spPr>
          <a:xfrm>
            <a:off x="7040880" y="3858768"/>
            <a:ext cx="365760" cy="320040"/>
          </a:xfrm>
          <a:prstGeom prst="lef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Left Arrow 32"/>
          <p:cNvSpPr/>
          <p:nvPr/>
        </p:nvSpPr>
        <p:spPr>
          <a:xfrm>
            <a:off x="4663440" y="3858768"/>
            <a:ext cx="365760" cy="320040"/>
          </a:xfrm>
          <a:prstGeom prst="leftArrow">
            <a:avLst/>
          </a:prstGeom>
          <a:solidFill>
            <a:srgbClr val="1A4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Up Arrow 33"/>
          <p:cNvSpPr/>
          <p:nvPr/>
        </p:nvSpPr>
        <p:spPr>
          <a:xfrm>
            <a:off x="8293608" y="2651760"/>
            <a:ext cx="320040" cy="822960"/>
          </a:xfrm>
          <a:prstGeom prst="up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2834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65A28"/>
                </a:solidFill>
                <a:latin typeface="Calibri"/>
              </a:defRPr>
            </a:pPr>
            <a:r>
              <a:t>Spacing Violations</a:t>
            </a:r>
            <a:br/>
            <a: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97763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C7C54"/>
                </a:solidFill>
              </a:defRPr>
            </a:pPr>
            <a:r>
              <a:t>Clean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B2B2B"/>
                </a:solidFill>
                <a:latin typeface="Calibri"/>
              </a:defRPr>
            </a:pPr>
            <a:r>
              <a:t>• Multi-Agent Orchestration: LangGraph manages layout generation as a state-machine. A shared state dictionary houses the netlist bipartite graph, matched symmetry constraint groups, and current coordinate matrices.</a:t>
            </a:r>
          </a:p>
          <a:p>
            <a:pPr>
              <a:spcBef>
                <a:spcPts val="400"/>
              </a:spcBef>
              <a:defRPr sz="1150">
                <a:solidFill>
                  <a:srgbClr val="2B2B2B"/>
                </a:solidFill>
                <a:latin typeface="Calibri"/>
              </a:defRPr>
            </a:pPr>
            <a:r>
              <a:t>• Closed-Loop Convergence: When the DRC Critic detects overlaps or spacing failures, it writes a list of bounding box corrective shift directives back to the Specialist agent, achieving zero-DRC convergence in under 4 loops.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Human-in-the-Loop Co-Pilot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16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Bridging Conversational AI and Layout Canvas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Interactive Co-Design: AI generates initial layouts, and humans override details on the canvas.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User Intent Parser: Chat panel processes natural language commands (e.g. "align differential pair gates").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Asynchronous Bridge: Pushes commands to XML execution queues, updating the GUI without UI freezing.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Intent Translation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Commands are parsed into structured layouts.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XML layouts are pushed to the compiler to snap boundaries.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Tracks are updated instantly on the PySide6 canvas.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Architecture: State Variables &amp;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17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LangGraph Active State Variables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netlist_graph: NetworkX representation of the electrical netlist.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symmetry_groups: List of matched symmetry transistor groups.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symbolic_map: JSON representation of active rows, devices, ordering, orientations, and fingers.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coordinate_matrix: Absolute snapped micron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Critic History Buffer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critic_history: Stores previous DRC check violations.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correction_constraints: List of active spacing offset limits.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user_overrides: Active list of designer override instructions.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3: Stage 1: EDA-Interface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Netlist Parsing, Subgraph Isomorphism, and Parameter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18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SPICE Ingestion &amp;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19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SPICE Netlist Parsing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Netlist Reader: Ingests flat or hierarchical SPICE files (.sp, .cdl).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Subcircuit Extraction: Flattens modules and extracts individual transistor rows.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Pin Mapping: Resolves electrical connections for transistor source, drain, gate, and body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Device Parameter Extraction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Transistor Dimensions: Resolves width (W), length (L), and finger counts (M).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PDK Attributes: Maps discrete FinFET parameters such as fin count, gate pitch, and threshold options.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Database Compilation: Builds a structured JSON node list of all devices.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Subgraph Isomorphism &amp; Symmetry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20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Graph Construction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Graph Representation: Ingested netlist is mapped to a bipartite graph using NetworkX.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Bipartite Nodes: Devices and electrical nets are represented as distinct node groups.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Bipartite Edges: Edges connect device terminal nodes to corresponding nets.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Isomorphism Matching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Pattern Recognition: Walks the bipartite graph checking for structural symmetry.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Symmetry Matching: Identifies equivalent electrical configurations (e.g. symmetrical paths).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Performance: Matching runs in milliseconds for typical analog blocks ($N &lt; 50$ devices).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Symmetrical Matching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21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Differential Input Pairs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Symmetry Condition: Symmetrical transistors sharing gate inputs or cross-coupled gate-drain connections.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Group Constraint: Forces transistors to be placed symmetrically around a central axis.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Alignment: Aligns horizontal y-coordinates and snaps poly tracks.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Active Loads &amp; Mirrors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Current Mirrors: Symmetrical transistor groups sharing common gate and source connections.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Aspect Ratios: Identifies matching finger counts to ensure proportional current mirroring.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Constraint Hierarchy: Writes symmetry requirements to the LangGraph state.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PDK Parameter Mapping &amp; Snapping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22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FinFET Grid Track Snapping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Ppoly Pitch: Gate centers must snap to integer multiples of the poly track pitch (e.g. 140nm).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Pfin Pitch: Active diffusions must snap to horizontal fin track pitches (e.g. 48nm).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Clearance Compiler: Reads spacing files and pre-calculates spacing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Ingestion Boundaries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Cell Boundaries: Formulates minimum width and height boundaries for NMOS and PMOS regions.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Well Clearances: Pre-calculates well isolation spacing limits to ensure DRC compliance.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Parser Ingestion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23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67335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1A4B84"/>
                </a:solidFill>
                <a:latin typeface="Calibri"/>
              </a:defRPr>
            </a:pPr>
            <a:r>
              <a:t>1. CDL/SPICE netlist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Ingests hierarchical netlist files and flattens device sub-module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67335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160020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005F73"/>
                </a:solidFill>
                <a:latin typeface="Calibri"/>
              </a:defRPr>
            </a:pPr>
            <a:r>
              <a:t>2. Properties Resolver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Extracts transistor parameters: widths (W), finger multipliers (M), and lengths (L).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167335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60020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1C7C54"/>
                </a:solidFill>
                <a:latin typeface="Calibri"/>
              </a:defRPr>
            </a:pPr>
            <a:r>
              <a:t>3. Bipartite Graph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Converts netlist to a bipartite graph where nodes are devices/nets and edges are pins.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23367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C5A059"/>
                </a:solidFill>
                <a:latin typeface="Calibri"/>
              </a:defRPr>
            </a:pPr>
            <a:r>
              <a:t>6. PDK Snap mapping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Reads PDK track settings and maps snapping constraints to poly poly gates and horizontal fins.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423367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416052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E65A28"/>
                </a:solidFill>
                <a:latin typeface="Calibri"/>
              </a:defRPr>
            </a:pPr>
            <a:r>
              <a:t>5. Constraints Database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Groups identified devices into hierarchical matching constraint blocks for the Placer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5632" y="4233672"/>
            <a:ext cx="3017520" cy="14630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4160520"/>
            <a:ext cx="3017520" cy="14630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1C7C54"/>
                </a:solidFill>
                <a:latin typeface="Calibri"/>
              </a:defRPr>
            </a:pPr>
            <a:r>
              <a:t>4. Symmetry Detector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Executes graph isomorphism walking (NetworkX) to identify matched pairs &amp; current mirrors.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40480" y="2171700"/>
            <a:ext cx="68580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680960" y="2171700"/>
            <a:ext cx="685800" cy="32004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9692640" y="3154680"/>
            <a:ext cx="365760" cy="822960"/>
          </a:xfrm>
          <a:prstGeom prst="down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eft Arrow 22"/>
          <p:cNvSpPr/>
          <p:nvPr/>
        </p:nvSpPr>
        <p:spPr>
          <a:xfrm>
            <a:off x="7680960" y="4732020"/>
            <a:ext cx="685800" cy="320040"/>
          </a:xfrm>
          <a:prstGeom prst="left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eft Arrow 23"/>
          <p:cNvSpPr/>
          <p:nvPr/>
        </p:nvSpPr>
        <p:spPr>
          <a:xfrm>
            <a:off x="3840480" y="4732020"/>
            <a:ext cx="685800" cy="320040"/>
          </a:xfrm>
          <a:prstGeom prst="lef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Parsed Ingestion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24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457200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57200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JSON Ingestion Fields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Nodes list: Represents devices in the flattened netlist (e.g. MM0, MM1).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Pins mapping: Links gate (g), source (s), drain (d), and bulk (b) terminals to logical net names.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Properties fields: Maps physical FinFET parameters: width (w), length (l), and parallel split fingers (nf).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3872" y="1353312"/>
            <a:ext cx="5669280" cy="4937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5669280" cy="4937760"/>
          </a:xfrm>
          <a:prstGeom prst="rect">
            <a:avLst/>
          </a:prstGeom>
          <a:solidFill>
            <a:srgbClr val="1C1C1E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C5A059"/>
                </a:solidFill>
                <a:latin typeface="Calibri"/>
              </a:defRPr>
            </a:pPr>
            <a:r>
              <a:t>Parsed Netlist JSON Schema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98C379"/>
                </a:solidFill>
              </a:rPr>
              <a:t>"nodes"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[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"MM0"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"type"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"nmos"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"w"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0.5e-6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"l"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0.03e-6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"nf"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2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"nets"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"out"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"g"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"in"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"gnd"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"b"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"gnd"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}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"MM1"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"type"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"nmos"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"w"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0.5e-6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"l"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0.03e-6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"nf"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2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"nets"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"out_b"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"g"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"in_b"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"gnd"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"b"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"gnd"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56B6C2"/>
                </a:solidFill>
              </a:rPr>
              <a:t>]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98C379"/>
                </a:solidFill>
              </a:rPr>
              <a:t>"edges"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[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"source"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"MM0"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"target"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"MM1"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"net"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"gnd"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"type"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"s_s"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6B6C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4: Stage 2: AI-Initial 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LangGraph Orchestration, Snapping, and Self-Healing Critic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25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Symbolic vs. Physical 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26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Eliminating Coordinate Hallucinations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The Problem: Generative AI models struggle with sub-micron coordinate arithmetic, causing DRC overlapping.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The Solution: LLM agents are restricted to planning a symbolic placement map.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No Math: LLM planning is restricted to relative ordering (e.g., placing M1 next to M2).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Deterministic Snapping Compiler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Compile Snapping: A geometry compiler resolves symbolic indices into physical coordinates.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Boundary Compiler: Integrates PDK boundary rules to calculate cell widths and heights.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Specialist Agent Roles &amp;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27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A4B84"/>
                </a:solidFill>
                <a:latin typeface="Calibri"/>
              </a:defRPr>
            </a:pPr>
            <a:r>
              <a:t>Topology Analyst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Bipartite Graph Walks: Parses netlist connectivity using NetworkX graphs.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Symmetry Matching: Automatically detects differential pairs, current mirrors, and matched terminals.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53312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B2545"/>
                </a:solidFill>
                <a:latin typeface="Calibri"/>
              </a:defRPr>
            </a:pPr>
            <a:r>
              <a:t>Strategy Selector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Floorplan Layouts: Allocates active cells to horizontal rows and maps well guard ring boundaries.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Centroid Axis Planning: Selects horizontal and vertical symmetry reflection axes.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53312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05F73"/>
                </a:solidFill>
                <a:latin typeface="Calibri"/>
              </a:defRPr>
            </a:pPr>
            <a:r>
              <a:t>Placement Specialist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LLM Reasoning Planner: Determines strategic relative orderings of transistors without absolute math.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Relative Commands: Issues topological move, swap, align, and abut directives.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22191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C7C54"/>
                </a:solidFill>
                <a:latin typeface="Calibri"/>
              </a:defRPr>
            </a:pPr>
            <a:r>
              <a:t>Finger Expander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Transistor Splitter: Unrolls wide gates into parallel fingers to fit PDK row height constraints.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Active Area Abutment: Maximizes shared source/drain contacts, compressing spacing to 70nm.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3822191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C5A059"/>
                </a:solidFill>
                <a:latin typeface="Calibri"/>
              </a:defRPr>
            </a:pPr>
            <a:r>
              <a:t>Routing Previewer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HPWL Routing Cost: Minimizes interconnect distance by calculating Half-Parameter Wire Lengths.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Same-Layer Crossing Checks: Optimizes cell orders to avoid signal trace intersections.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3822191"/>
            <a:ext cx="3429000" cy="21945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0" y="3749039"/>
            <a:ext cx="3429000" cy="21945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E65A28"/>
                </a:solidFill>
                <a:latin typeface="Calibri"/>
              </a:defRPr>
            </a:pPr>
            <a:r>
              <a:t>DRC Critic Agent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Sweepline Spacing Engine: Evaluates polygon overlaps against PDK clearance lookup rules.</a:t>
            </a:r>
          </a:p>
          <a:p>
            <a:pPr>
              <a:spcAft>
                <a:spcPts val="400"/>
              </a:spcAft>
              <a:defRPr sz="1000">
                <a:solidFill>
                  <a:srgbClr val="2B2B2B"/>
                </a:solidFill>
                <a:latin typeface="Calibri"/>
              </a:defRPr>
            </a:pPr>
            <a:r>
              <a:t>• Correction Directives: Formulates shift vector requirements (e.g. shift X by 0.3um) to heal state.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Spacing Self-Healing Critic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28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Sweepline DRC Checks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Overlap Detection: Checks layout boundaries to identify overlaps.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Clearance Verification: Measures gaps against PDK spacing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Corrective Offset Synthesis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Constraint Injection: Generates relative spacing coordinates (e.g. shift x by 0.1um) when DRC violations are found.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ReAct Loop: LangGraph loops from Specialist to Critic until all violations are resolved.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Placer-Critic Self-Healing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29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3270" y="3931920"/>
            <a:ext cx="182880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7550" y="3886200"/>
            <a:ext cx="182880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A4B84"/>
                </a:solidFill>
                <a:latin typeface="Calibri"/>
              </a:defRPr>
            </a:pPr>
            <a:r>
              <a:t>Builder Node</a:t>
            </a:r>
            <a:br/>
            <a:r>
              <a:t>Initializes row &amp; cell structures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0710" y="3931920"/>
            <a:ext cx="182880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94990" y="3886200"/>
            <a:ext cx="182880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05F73"/>
                </a:solidFill>
                <a:latin typeface="Calibri"/>
              </a:defRPr>
            </a:pPr>
            <a:r>
              <a:t>Specialist Node</a:t>
            </a:r>
            <a:br/>
            <a:r>
              <a:t>Proposes relative ordering &amp;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18150" y="3931920"/>
            <a:ext cx="182880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72430" y="3886200"/>
            <a:ext cx="182880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C7C54"/>
                </a:solidFill>
                <a:latin typeface="Calibri"/>
              </a:defRPr>
            </a:pPr>
            <a:r>
              <a:t>DRC Critic Node</a:t>
            </a:r>
            <a:br/>
            <a:r>
              <a:t>Sweepline spacing &amp; overlap checks</a:t>
            </a:r>
          </a:p>
        </p:txBody>
      </p:sp>
      <p:sp>
        <p:nvSpPr>
          <p:cNvPr id="14" name="Diamond 13"/>
          <p:cNvSpPr/>
          <p:nvPr/>
        </p:nvSpPr>
        <p:spPr>
          <a:xfrm>
            <a:off x="7695590" y="3611880"/>
            <a:ext cx="1645920" cy="1645920"/>
          </a:xfrm>
          <a:prstGeom prst="diamond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iamond 14"/>
          <p:cNvSpPr/>
          <p:nvPr/>
        </p:nvSpPr>
        <p:spPr>
          <a:xfrm>
            <a:off x="7649870" y="3566160"/>
            <a:ext cx="1645920" cy="1645920"/>
          </a:xfrm>
          <a:prstGeom prst="diamond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B2545"/>
                </a:solidFill>
                <a:latin typeface="Calibri"/>
              </a:defRPr>
            </a:pPr>
            <a:r>
              <a:t>DRC Spacing</a:t>
            </a:r>
            <a:br/>
            <a:r>
              <a:t>Violations?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4150" y="2103120"/>
            <a:ext cx="182880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58430" y="2057400"/>
            <a:ext cx="182880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E65A28"/>
                </a:solidFill>
                <a:latin typeface="Calibri"/>
              </a:defRPr>
            </a:pPr>
            <a:r>
              <a:t>Compute coordinate shift offset vectors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90150" y="3931920"/>
            <a:ext cx="182880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44430" y="3886200"/>
            <a:ext cx="182880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05F73"/>
                </a:solidFill>
                <a:latin typeface="Calibri"/>
              </a:defRPr>
            </a:pPr>
            <a:r>
              <a:t>Physical Compaction</a:t>
            </a:r>
            <a:br/>
            <a:r>
              <a:t>Proceeds to exporters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37790" y="4229100"/>
            <a:ext cx="36576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815230" y="4229100"/>
            <a:ext cx="365760" cy="32004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192670" y="4229100"/>
            <a:ext cx="36576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387230" y="4229100"/>
            <a:ext cx="36576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p Arrow 23"/>
          <p:cNvSpPr/>
          <p:nvPr/>
        </p:nvSpPr>
        <p:spPr>
          <a:xfrm>
            <a:off x="8312810" y="3131820"/>
            <a:ext cx="320040" cy="365760"/>
          </a:xfrm>
          <a:prstGeom prst="up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31775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5A28"/>
                </a:solidFill>
              </a:defRPr>
            </a:pPr>
            <a: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9390" y="2542032"/>
            <a:ext cx="3749039" cy="36576"/>
          </a:xfrm>
          <a:prstGeom prst="rect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791102" y="2578608"/>
            <a:ext cx="36576" cy="1078992"/>
          </a:xfrm>
          <a:prstGeom prst="rect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672230" y="3657600"/>
            <a:ext cx="274320" cy="228600"/>
          </a:xfrm>
          <a:prstGeom prst="triangle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3840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F73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Diffusion Sharing &amp; Abutment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30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Active diffusion sharing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Concept: Adjacent transistors sharing a common electrical net can share active diffusion regions.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Contact Merging: Compactor merges source/drain contacts, eliminating isolation spacing.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Area Benefits: Reduces cell width by up to 40%, optimizing layout density.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Abutment Engine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Abutment Search: Evaluates orientation flips (source/drain) to maximize shared contacts.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Net Compatibility: Checks poly spacing and contact boundary rules.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Abutment Engine &amp; Dummy Insertion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31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Union-Find Chains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Abutment Chain Search: Identifies continuous transistor chains sharing source/drain nodes.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Grid Snapping: Aligns active channels to horizontal tracks.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Conflict Spacing &amp; Dummies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Abutment Conflicts: Inserts dummy isolation transistors or spacing guard zones if active nets conflict.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PDK Snapping: Snaps boundaries to integer track multiples.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Symbolic Placement JSON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32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457200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57200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JSON Symbolic Fields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Rows template: Strategic row partitions separating NMOS and PMOS device regions.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Relative index: Horizontal sequence numbers representing device ordering from left to right.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Orientations flags: Flip states (R0 vs. MX) that control source/drain terminal configurations to allow contact sharing.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3872" y="1353312"/>
            <a:ext cx="5669280" cy="4937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5669280" cy="4937760"/>
          </a:xfrm>
          <a:prstGeom prst="rect">
            <a:avLst/>
          </a:prstGeom>
          <a:solidFill>
            <a:srgbClr val="1C1C1E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C5A059"/>
                </a:solidFill>
                <a:latin typeface="Calibri"/>
              </a:defRPr>
            </a:pPr>
            <a:r>
              <a:t>Symbolic Placement JSON Output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98C379"/>
                </a:solidFill>
              </a:rPr>
              <a:t>"rows"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[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"row0"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"type"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"nmos"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"height"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0.6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98C379"/>
                </a:solidFill>
              </a:rPr>
              <a:t>"devices"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56B6C2"/>
                </a:solidFill>
              </a:rPr>
              <a:t>[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"MM0"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"finger"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"orient"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"R0"</a:t>
            </a:r>
            <a:r>
              <a:rPr>
                <a:solidFill>
                  <a:srgbClr val="56B6C2"/>
                </a:solidFill>
              </a:rPr>
              <a:t>}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"MM0"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"finger"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1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"orient"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"MX"</a:t>
            </a:r>
            <a:r>
              <a:rPr>
                <a:solidFill>
                  <a:srgbClr val="56B6C2"/>
                </a:solidFill>
              </a:rPr>
              <a:t>}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"MM1"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"finger"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0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"orient"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"R0"</a:t>
            </a:r>
            <a:r>
              <a:rPr>
                <a:solidFill>
                  <a:srgbClr val="56B6C2"/>
                </a:solidFill>
              </a:rPr>
              <a:t>}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>
                <a:solidFill>
                  <a:srgbClr val="56B6C2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"id"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"MM1"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"finger"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D19A66"/>
                </a:solidFill>
              </a:rPr>
              <a:t>1</a:t>
            </a:r>
            <a:r>
              <a:rPr>
                <a:solidFill>
                  <a:srgbClr val="ABB2BF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"orient"</a:t>
            </a:r>
            <a:r>
              <a:rPr>
                <a:solidFill>
                  <a:srgbClr val="ABB2BF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"MX"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6B6C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5: Stage 3: ChatBot &amp; GUI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Conversational Panel, Intent Classifiers, and Multi-Threaded Signal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33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Conversational Layout Co-Pilot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34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Interactive Chat Panel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Canvas Chat Panel: Integrated directly inside the PySide6 canvas editor.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Natural Language Interface: Allows designers to interact with layout parameters via text.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Query Support: Designers can query PDK rules, check symmetry constraints, or get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Designer Overrides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Designer Command: Allows engineers to override placement settings.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Intent Capture: Chat panel converts natural language commands into layout modifications.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ChatPanel Co-Pilot Event Queue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35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1A4B84"/>
                </a:solidFill>
                <a:latin typeface="Calibri"/>
              </a:defRPr>
            </a:pPr>
            <a:r>
              <a:t>1. Natural Language Input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Designer types layout query text (e.g. "align gates").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1C7C54"/>
                </a:solidFill>
                <a:latin typeface="Calibri"/>
              </a:defRPr>
            </a:pPr>
            <a:r>
              <a:t>2. QThread Worker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ChatPanel captures text; triggers background thread worker.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005F73"/>
                </a:solidFill>
                <a:latin typeface="Calibri"/>
              </a:defRPr>
            </a:pPr>
            <a:r>
              <a:t>3. Intent Router LLM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Analyzes prompt against available layout skills (move, abut).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691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C5A059"/>
                </a:solidFill>
                <a:latin typeface="Calibri"/>
              </a:defRPr>
            </a:pPr>
            <a:r>
              <a:t>4. XML CMD Synthesizer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Converts natural intent into structured command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8. KLayout Live Preview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Synchronizes coordinates; displays unrolled shapes instantly.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977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74720" y="3931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005F73"/>
                </a:solidFill>
                <a:latin typeface="Calibri"/>
              </a:defRPr>
            </a:pPr>
            <a:r>
              <a:t>7. PySide6 Canvas View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Redraws layout shapes on the symbolic canvas 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77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1C7C54"/>
                </a:solidFill>
                <a:latin typeface="Calibri"/>
              </a:defRPr>
            </a:pPr>
            <a:r>
              <a:t>6. QGraphicsScene Stack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Translates commands into QGraphicsItems &amp; commits to undo/redo.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977640"/>
            <a:ext cx="2468880" cy="100584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0" y="3931920"/>
            <a:ext cx="2468880" cy="1005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200" b="1">
                <a:solidFill>
                  <a:srgbClr val="E65A28"/>
                </a:solidFill>
                <a:latin typeface="Calibri"/>
              </a:defRPr>
            </a:pPr>
            <a:r>
              <a:t>5. XML Execution Queue</a:t>
            </a:r>
          </a:p>
          <a:p>
            <a:pPr>
              <a:spcBef>
                <a:spcPts val="2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Pushes parsed commands to a structured transaction queue.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46120" y="2011680"/>
            <a:ext cx="201168" cy="22860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5989320" y="2011680"/>
            <a:ext cx="201168" cy="22860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732520" y="2011680"/>
            <a:ext cx="201168" cy="22860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wn Arrow 26"/>
          <p:cNvSpPr/>
          <p:nvPr/>
        </p:nvSpPr>
        <p:spPr>
          <a:xfrm>
            <a:off x="9966960" y="2697480"/>
            <a:ext cx="228600" cy="1188720"/>
          </a:xfrm>
          <a:prstGeom prst="down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eft Arrow 27"/>
          <p:cNvSpPr/>
          <p:nvPr/>
        </p:nvSpPr>
        <p:spPr>
          <a:xfrm>
            <a:off x="8732520" y="4297680"/>
            <a:ext cx="201168" cy="228600"/>
          </a:xfrm>
          <a:prstGeom prst="lef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Left Arrow 28"/>
          <p:cNvSpPr/>
          <p:nvPr/>
        </p:nvSpPr>
        <p:spPr>
          <a:xfrm>
            <a:off x="5989320" y="4297680"/>
            <a:ext cx="201168" cy="228600"/>
          </a:xfrm>
          <a:prstGeom prst="lef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3246120" y="4297680"/>
            <a:ext cx="201168" cy="228600"/>
          </a:xfrm>
          <a:prstGeom prst="lef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B2B2B"/>
                </a:solidFill>
                <a:latin typeface="Calibri"/>
              </a:defRPr>
            </a:pPr>
            <a:r>
              <a:t>• Thread Isolation: By offloading heavy model queries and routing calculations to a separate background QThread, the main PySide6 canvas view remains responsive with zero UI freezing.</a:t>
            </a:r>
          </a:p>
          <a:p>
            <a:pPr>
              <a:spcBef>
                <a:spcPts val="4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• Transactional Safety: Commands in the queue are validated against snap pitches and compiled as a batch. A lightweight QTimer flusher, reducing canvas repainting overhead.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PySide6 GUI Canvas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36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Interactive Layout Canvas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Canvas Editor: Displays transistor shapes (diffusions, gates, contacts, pins) dynamically.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Graphic Items: Uses QGraphicsScene to display layout geometries.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Real-Time Updates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Real-Time Refreshes: Refreshes canvas layers instantly when placement updates are received.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Visual Highlights: Highlights nets and symmetry axes.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Thread-Safe GUI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37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Thread Separation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OrchestratorWorker: Moves LLM requests and LangGraph iterations to a background thread.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Thread Separation: Protects PySide6 GUI main thread from freezing during long reasoning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Qt Signal-Slot Communication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Communication uses thread-safe signals: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stage_started: Shows loading spinners in the GUI.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response_delta: Streams text token-by-token to the chat panel.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command_ready: Transmits layout updates.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Command Queue &amp; Interactive Undo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38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XML Layout Queues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XML Command Queue: Pushes all updates to a structured queue.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Batch Command Flusher: Group commands into a single canvas redraw transaction using a 0ms QTimer to prevent flickering.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Undo/Redo Stack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Undo Stack: Tracks all state changes to allow reverting layout adjustments.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Co-Design Support: Allows designers to easily undo or redo modifications.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3: ChatPanel Co-Pilot Event Queue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39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87452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1A4B84"/>
                </a:solidFill>
                <a:latin typeface="Calibri"/>
              </a:defRPr>
            </a:pPr>
            <a:r>
              <a:t>1. User Prompt Text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Designer types layout query text (e.g. "align gates").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7452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1C7C54"/>
                </a:solidFill>
                <a:latin typeface="Calibri"/>
              </a:defRPr>
            </a:pPr>
            <a:r>
              <a:t>2. PySide6 Canvas GUI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ChatPanel captures text; triggers orchestrator workers.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2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005F73"/>
                </a:solidFill>
                <a:latin typeface="Calibri"/>
              </a:defRPr>
            </a:pPr>
            <a:r>
              <a:t>3. OrchestratorWorker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Background worker QThread runs model calculations.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7452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C5A059"/>
                </a:solidFill>
                <a:latin typeface="Calibri"/>
              </a:defRPr>
            </a:pPr>
            <a:r>
              <a:t>4. Intent Classifier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Classifies prompt into move, swap, align, abut action intents.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0B2545"/>
                </a:solidFill>
                <a:latin typeface="Calibri"/>
              </a:defRPr>
            </a:pPr>
            <a:r>
              <a:t>8. Undo Stack Log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Logs layout modifications on the undo stack for reverts.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25196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74720" y="420624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005F73"/>
                </a:solidFill>
                <a:latin typeface="Calibri"/>
              </a:defRPr>
            </a:pPr>
            <a:r>
              <a:t>7. QGraphicsScene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Redraws layout shapes instantly with zero lagging.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5196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1C7C54"/>
                </a:solidFill>
                <a:latin typeface="Calibri"/>
              </a:defRPr>
            </a:pPr>
            <a:r>
              <a:t>6. QTimer Batch Flusher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Groups commands into a single canvas redraw transaction.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4251960"/>
            <a:ext cx="237744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0" y="4206240"/>
            <a:ext cx="237744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300" b="1">
                <a:solidFill>
                  <a:srgbClr val="E65A28"/>
                </a:solidFill>
                <a:latin typeface="Calibri"/>
              </a:defRPr>
            </a:pPr>
            <a:r>
              <a:t>5. XML Command Queue</a:t>
            </a:r>
          </a:p>
          <a:p>
            <a:pPr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Pushes parsed commands to structured queue buffer.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54680" y="2286000"/>
            <a:ext cx="274320" cy="22860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5897880" y="2286000"/>
            <a:ext cx="274320" cy="22860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641080" y="2286000"/>
            <a:ext cx="274320" cy="22860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wn Arrow 26"/>
          <p:cNvSpPr/>
          <p:nvPr/>
        </p:nvSpPr>
        <p:spPr>
          <a:xfrm>
            <a:off x="9966960" y="3154680"/>
            <a:ext cx="274320" cy="960120"/>
          </a:xfrm>
          <a:prstGeom prst="down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eft Arrow 27"/>
          <p:cNvSpPr/>
          <p:nvPr/>
        </p:nvSpPr>
        <p:spPr>
          <a:xfrm>
            <a:off x="8641080" y="4663440"/>
            <a:ext cx="274320" cy="228600"/>
          </a:xfrm>
          <a:prstGeom prst="lef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Left Arrow 28"/>
          <p:cNvSpPr/>
          <p:nvPr/>
        </p:nvSpPr>
        <p:spPr>
          <a:xfrm>
            <a:off x="5897880" y="4663440"/>
            <a:ext cx="274320" cy="228600"/>
          </a:xfrm>
          <a:prstGeom prst="lef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3154680" y="4663440"/>
            <a:ext cx="274320" cy="228600"/>
          </a:xfrm>
          <a:prstGeom prst="lef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6: Stage 4: EDA-Interface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Compaction, OASIS Exporter, and OpenAccess TCL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40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4: Physical Layout Compaction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41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Compaction Execution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Compaction Engine: Ingests placement maps and resolves PDK spacing rules.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Clearance Sweeper: Compacts gaps between gates and active areas to minimize overall cell area.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Pin Alignment: Snaps contacts and pins to vertical and horizontal routing grids.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LDE Reduction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WPE and STI Protection: Places dummy devices to shield active transistors.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Symmetry Axis Centering: Aligns symmetrical transistor rows.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4: Binary GDSII &amp; OASIS Exporter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42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Gdstk Layout Assembly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Gdstk Exporter: Generates layouts using the C++/Python Gdstk library.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Cell Assembly: Clones PDK base PCells and compiles geometry polygons.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Speed: Layout generation finishes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Binary Formats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OASIS Exporter: Exports binary GDSII or OASIS layout streams.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OASIS Advantage: Offers up to 10x smaller file sizes than GDSII, accelerating large macro exports.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4: OpenAccess DB Watchdog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43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828800" cy="13716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82880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200" b="1">
                <a:solidFill>
                  <a:srgbClr val="1A4B84"/>
                </a:solidFill>
                <a:latin typeface="Calibri"/>
              </a:defRPr>
            </a:pPr>
            <a:r>
              <a:t>1. Exporter Output</a:t>
            </a:r>
          </a:p>
          <a:p>
            <a:pPr>
              <a:spcBef>
                <a:spcPts val="3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Compactor writes snapped coordinates to layout.json file on disk.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39" y="2811780"/>
            <a:ext cx="274320" cy="320040"/>
          </a:xfrm>
          <a:prstGeom prst="rightArrow">
            <a:avLst/>
          </a:prstGeom>
          <a:solidFill>
            <a:srgbClr val="1A4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2331720"/>
            <a:ext cx="1828800" cy="13716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2286000"/>
            <a:ext cx="182880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200" b="1">
                <a:solidFill>
                  <a:srgbClr val="0B2545"/>
                </a:solidFill>
                <a:latin typeface="Calibri"/>
              </a:defRPr>
            </a:pPr>
            <a:r>
              <a:t>2. Filesystem Watchdog</a:t>
            </a:r>
          </a:p>
          <a:p>
            <a:pPr>
              <a:spcBef>
                <a:spcPts val="3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cc_watcher.tcl running inside Virtuoso monitors directory for updates.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2811780"/>
            <a:ext cx="274320" cy="320040"/>
          </a:xfrm>
          <a:prstGeom prst="righ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57800" y="2331720"/>
            <a:ext cx="1828800" cy="13716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0" y="2286000"/>
            <a:ext cx="182880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200" b="1">
                <a:solidFill>
                  <a:srgbClr val="005F73"/>
                </a:solidFill>
                <a:latin typeface="Calibri"/>
              </a:defRPr>
            </a:pPr>
            <a:r>
              <a:t>3. TCL Ingestion Parser</a:t>
            </a:r>
          </a:p>
          <a:p>
            <a:pPr>
              <a:spcBef>
                <a:spcPts val="3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Reads new layout.json file and decodes device-coordinate pairs.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86600" y="2811780"/>
            <a:ext cx="27432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43799" y="2331720"/>
            <a:ext cx="1828800" cy="13716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8079" y="2286000"/>
            <a:ext cx="182880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200" b="1">
                <a:solidFill>
                  <a:srgbClr val="1C7C54"/>
                </a:solidFill>
                <a:latin typeface="Calibri"/>
              </a:defRPr>
            </a:pPr>
            <a:r>
              <a:t>4. OpenAccess DB API</a:t>
            </a:r>
          </a:p>
          <a:p>
            <a:pPr>
              <a:spcBef>
                <a:spcPts val="3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Directly moves cellview shapes using db_move_device calls in-memory.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72600" y="2811780"/>
            <a:ext cx="274320" cy="320040"/>
          </a:xfrm>
          <a:prstGeom prst="rightArrow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9800" y="2331720"/>
            <a:ext cx="1828800" cy="137160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84080" y="2286000"/>
            <a:ext cx="1828800" cy="13716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200" b="1">
                <a:solidFill>
                  <a:srgbClr val="C5A059"/>
                </a:solidFill>
                <a:latin typeface="Calibri"/>
              </a:defRPr>
            </a:pPr>
            <a:r>
              <a:t>5. Active Canvas Refresh</a:t>
            </a:r>
          </a:p>
          <a:p>
            <a:pPr>
              <a:spcBef>
                <a:spcPts val="300"/>
              </a:spcBef>
              <a:defRPr sz="900">
                <a:solidFill>
                  <a:srgbClr val="2B2B2B"/>
                </a:solidFill>
                <a:latin typeface="Calibri"/>
              </a:defRPr>
            </a:pPr>
            <a:r>
              <a:t>Virtuoso/Custom Compiler layout window redraws coordinates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B2B2B"/>
                </a:solidFill>
                <a:latin typeface="Calibri"/>
              </a:defRPr>
            </a:pPr>
            <a:r>
              <a:t>• Independent Synchronization: Rather than establishing heavy inter-process communication sockets, the system uses a robust file watchdog (cc_watcher.tcl) that polls a directory and reads files based on modification times (mtime).</a:t>
            </a:r>
          </a:p>
          <a:p>
            <a:pPr>
              <a:spcBef>
                <a:spcPts val="500"/>
              </a:spcBef>
              <a:defRPr sz="1150">
                <a:solidFill>
                  <a:srgbClr val="2B2B2B"/>
                </a:solidFill>
                <a:latin typeface="Calibri"/>
              </a:defRPr>
            </a:pPr>
            <a:r>
              <a:t>• Direct In-Memory Manipulation: The TCL watchdog runs directly inside the active EDA session (Synopsys Custom Compiler or Cadence Virtuoso). It queries the OpenAccess cellview database, moves transistor instances in-memory, and updates PCell abutment flags programmatically. This ensures DRC-clean layouts load instantly without database locks.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4: Compaction &amp; Dual Exporter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44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201168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01168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1A4B84"/>
                </a:solidFill>
                <a:latin typeface="Calibri"/>
              </a:defRPr>
            </a:pPr>
            <a:r>
              <a:t>Snapped Coordinates</a:t>
            </a:r>
            <a:br/>
            <a:r>
              <a:t>- Transistor rows</a:t>
            </a:r>
            <a:br/>
            <a:r>
              <a:t>- Gate poly centers</a:t>
            </a:r>
            <a:br/>
            <a:r>
              <a:t>- Shared diffusions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154680"/>
            <a:ext cx="2011680" cy="11887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3108960"/>
            <a:ext cx="201168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B2545"/>
                </a:solidFill>
                <a:latin typeface="Calibri"/>
              </a:defRPr>
            </a:pPr>
            <a:r>
              <a:t>Compaction Engine</a:t>
            </a:r>
            <a:br/>
            <a:r>
              <a:t>- Runs sweep clearances</a:t>
            </a:r>
            <a:br/>
            <a:r>
              <a:t>- Optimizes cell bounds</a:t>
            </a:r>
            <a:br/>
            <a:r>
              <a:t>- Aligns routing pins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2011680" cy="109728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01168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05F73"/>
                </a:solidFill>
                <a:latin typeface="Calibri"/>
              </a:defRPr>
            </a:pPr>
            <a:r>
              <a:t>Gdstk Exporter</a:t>
            </a:r>
            <a:br/>
            <a:r>
              <a:t>Clones PDK base cells;</a:t>
            </a:r>
            <a:br/>
            <a:r>
              <a:t>compiles geometries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783080"/>
            <a:ext cx="2377440" cy="109728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377440" cy="109728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B2545"/>
                </a:solidFill>
                <a:latin typeface="Calibri"/>
              </a:defRPr>
            </a:pPr>
            <a:r>
              <a:t>Binary GDSII / OASIS Streams</a:t>
            </a:r>
            <a:br/>
            <a:r>
              <a:t>Highly compacted file size;</a:t>
            </a:r>
            <a:br/>
            <a:r>
              <a:t>ready for verification/tape-out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434840"/>
            <a:ext cx="2011680" cy="109728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2011680" cy="1097280"/>
          </a:xfrm>
          <a:prstGeom prst="roundRect">
            <a:avLst/>
          </a:prstGeom>
          <a:solidFill>
            <a:srgbClr val="FDFBF7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0B2545"/>
                </a:solidFill>
                <a:latin typeface="Calibri"/>
              </a:defRPr>
            </a:pPr>
            <a:r>
              <a:t>layout.json file</a:t>
            </a:r>
            <a:br/>
            <a:r>
              <a:t>Stores snapped coords;</a:t>
            </a:r>
            <a:br/>
            <a:r>
              <a:t>localized exchange buffer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434840"/>
            <a:ext cx="2377440" cy="109728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0" y="4389120"/>
            <a:ext cx="237744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6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50" b="1">
                <a:solidFill>
                  <a:srgbClr val="E65A28"/>
                </a:solidFill>
                <a:latin typeface="Calibri"/>
              </a:defRPr>
            </a:pPr>
            <a:r>
              <a:t>cc_watcher Watchdog</a:t>
            </a:r>
            <a:br/>
            <a:r>
              <a:t>Injects coordinate changes;</a:t>
            </a:r>
            <a:br/>
            <a:r>
              <a:t>updates Virtuoso cellview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34640" y="3543300"/>
            <a:ext cx="457200" cy="320040"/>
          </a:xfrm>
          <a:prstGeom prst="rightArrow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 rot="20100000">
            <a:off x="5486400" y="3383280"/>
            <a:ext cx="54864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 rot="1500000">
            <a:off x="5486400" y="3840480"/>
            <a:ext cx="548640" cy="320040"/>
          </a:xfrm>
          <a:prstGeom prst="rightArrow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8321040" y="2125980"/>
            <a:ext cx="548640" cy="320040"/>
          </a:xfrm>
          <a:prstGeom prst="rightArrow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8321040" y="4777740"/>
            <a:ext cx="548640" cy="320040"/>
          </a:xfrm>
          <a:prstGeom prst="rightArrow">
            <a:avLst/>
          </a:prstGeom>
          <a:solidFill>
            <a:srgbClr val="E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4: Watchdog Observer TCL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45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457200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57200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TCL Script Logic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File Observer: Monitors the filesystem directory for updates to the coordinate exchange file.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JSON Parsing: Ingests layout changes as key-value pairs (device ID to physical coordinates).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Database Injection: Executes db_move_device to update the active OpenAccess cellview in real-time.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3872" y="1353312"/>
            <a:ext cx="5669280" cy="4937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5669280" cy="4937760"/>
          </a:xfrm>
          <a:prstGeom prst="rect">
            <a:avLst/>
          </a:prstGeom>
          <a:solidFill>
            <a:srgbClr val="1C1C1E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C5A059"/>
                </a:solidFill>
                <a:latin typeface="Calibri"/>
              </a:defRPr>
            </a:pPr>
            <a:r>
              <a:t>cc_watcher.tcl Watchdog Script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C6370"/>
                </a:solidFill>
              </a:rPr>
              <a:t># cc_watcher.tcl - Ingest JSON layout updates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 b="1">
                <a:solidFill>
                  <a:srgbClr val="E06C75"/>
                </a:solidFill>
              </a:rPr>
              <a:t>if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{[</a:t>
            </a:r>
            <a:r>
              <a:rPr>
                <a:solidFill>
                  <a:srgbClr val="ABB2BF"/>
                </a:solidFill>
              </a:rPr>
              <a:t>file exists $layout_json_path</a:t>
            </a:r>
            <a:r>
              <a:rPr>
                <a:solidFill>
                  <a:srgbClr val="56B6C2"/>
                </a:solidFill>
              </a:rPr>
              <a:t>]}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fp </a:t>
            </a:r>
            <a:r>
              <a:rPr>
                <a:solidFill>
                  <a:srgbClr val="56B6C2"/>
                </a:solidFill>
              </a:rPr>
              <a:t>[</a:t>
            </a:r>
            <a:r>
              <a:rPr b="1">
                <a:solidFill>
                  <a:srgbClr val="E06C75"/>
                </a:solidFill>
              </a:rPr>
              <a:t>open</a:t>
            </a:r>
            <a:r>
              <a:rPr>
                <a:solidFill>
                  <a:srgbClr val="ABB2BF"/>
                </a:solidFill>
              </a:rPr>
              <a:t> $layout_json_path r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file_data </a:t>
            </a:r>
            <a:r>
              <a:rPr>
                <a:solidFill>
                  <a:srgbClr val="56B6C2"/>
                </a:solidFill>
              </a:rPr>
              <a:t>[</a:t>
            </a:r>
            <a:r>
              <a:rPr b="1">
                <a:solidFill>
                  <a:srgbClr val="E06C75"/>
                </a:solidFill>
              </a:rPr>
              <a:t>read</a:t>
            </a:r>
            <a:r>
              <a:rPr>
                <a:solidFill>
                  <a:srgbClr val="ABB2BF"/>
                </a:solidFill>
              </a:rPr>
              <a:t> $fp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 b="1">
                <a:solidFill>
                  <a:srgbClr val="E06C75"/>
                </a:solidFill>
              </a:rPr>
              <a:t>close</a:t>
            </a:r>
            <a:r>
              <a:rPr>
                <a:solidFill>
                  <a:srgbClr val="ABB2BF"/>
                </a:solidFill>
              </a:rPr>
              <a:t> $fp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C6370"/>
                </a:solidFill>
              </a:rPr>
              <a:t>    # Parse placement coordinate arrays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json_data </a:t>
            </a:r>
            <a:r>
              <a:rPr>
                <a:solidFill>
                  <a:srgbClr val="56B6C2"/>
                </a:solidFill>
              </a:rPr>
              <a:t>[</a:t>
            </a:r>
            <a:r>
              <a:rPr>
                <a:solidFill>
                  <a:srgbClr val="ABB2BF"/>
                </a:solidFill>
              </a:rPr>
              <a:t>json::json2dict $file_data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 b="1">
                <a:solidFill>
                  <a:srgbClr val="E06C75"/>
                </a:solidFill>
              </a:rPr>
              <a:t>foreach</a:t>
            </a:r>
            <a:r>
              <a:rPr>
                <a:solidFill>
                  <a:srgbClr val="ABB2BF"/>
                </a:solidFill>
              </a:rPr>
              <a:t> dev_id </a:t>
            </a:r>
            <a:r>
              <a:rPr>
                <a:solidFill>
                  <a:srgbClr val="56B6C2"/>
                </a:solidFill>
              </a:rPr>
              <a:t>[</a:t>
            </a:r>
            <a:r>
              <a:rPr b="1">
                <a:solidFill>
                  <a:srgbClr val="E06C75"/>
                </a:solidFill>
              </a:rPr>
              <a:t>dict</a:t>
            </a:r>
            <a:r>
              <a:rPr>
                <a:solidFill>
                  <a:srgbClr val="ABB2BF"/>
                </a:solidFill>
              </a:rPr>
              <a:t> keys $json_data</a:t>
            </a:r>
            <a:r>
              <a:rPr>
                <a:solidFill>
                  <a:srgbClr val="56B6C2"/>
                </a:solidFill>
              </a:rPr>
              <a:t>]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{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coords </a:t>
            </a:r>
            <a:r>
              <a:rPr>
                <a:solidFill>
                  <a:srgbClr val="56B6C2"/>
                </a:solidFill>
              </a:rPr>
              <a:t>[</a:t>
            </a:r>
            <a:r>
              <a:rPr b="1">
                <a:solidFill>
                  <a:srgbClr val="E06C75"/>
                </a:solidFill>
              </a:rPr>
              <a:t>dict</a:t>
            </a:r>
            <a:r>
              <a:rPr>
                <a:solidFill>
                  <a:srgbClr val="ABB2BF"/>
                </a:solidFill>
              </a:rPr>
              <a:t> get $json_data $dev_id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xPos </a:t>
            </a:r>
            <a:r>
              <a:rPr>
                <a:solidFill>
                  <a:srgbClr val="56B6C2"/>
                </a:solidFill>
              </a:rPr>
              <a:t>[</a:t>
            </a:r>
            <a:r>
              <a:rPr>
                <a:solidFill>
                  <a:srgbClr val="ABB2BF"/>
                </a:solidFill>
              </a:rPr>
              <a:t>lindex $coords </a:t>
            </a:r>
            <a:r>
              <a:rPr>
                <a:solidFill>
                  <a:srgbClr val="D19A66"/>
                </a:solidFill>
              </a:rPr>
              <a:t>0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</a:t>
            </a:r>
            <a:r>
              <a:rPr b="1">
                <a:solidFill>
                  <a:srgbClr val="E06C75"/>
                </a:solidFill>
              </a:rPr>
              <a:t>set</a:t>
            </a:r>
            <a:r>
              <a:rPr>
                <a:solidFill>
                  <a:srgbClr val="ABB2BF"/>
                </a:solidFill>
              </a:rPr>
              <a:t> yPos </a:t>
            </a:r>
            <a:r>
              <a:rPr>
                <a:solidFill>
                  <a:srgbClr val="56B6C2"/>
                </a:solidFill>
              </a:rPr>
              <a:t>[</a:t>
            </a:r>
            <a:r>
              <a:rPr>
                <a:solidFill>
                  <a:srgbClr val="ABB2BF"/>
                </a:solidFill>
              </a:rPr>
              <a:t>lindex $coords </a:t>
            </a:r>
            <a:r>
              <a:rPr>
                <a:solidFill>
                  <a:srgbClr val="D19A66"/>
                </a:solidFill>
              </a:rPr>
              <a:t>1</a:t>
            </a:r>
            <a:r>
              <a:rPr>
                <a:solidFill>
                  <a:srgbClr val="56B6C2"/>
                </a:solidFill>
              </a:rPr>
              <a:t>]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C6370"/>
                </a:solidFill>
              </a:rPr>
              <a:t>        # Inject coordinates directly into active cellview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    db_move_device $dev_id $xPos $yPos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ABB2BF"/>
                </a:solidFill>
              </a:rPr>
              <a:t>    </a:t>
            </a:r>
            <a:r>
              <a:rPr>
                <a:solidFill>
                  <a:srgbClr val="56B6C2"/>
                </a:solidFill>
              </a:rPr>
              <a:t>}</a:t>
            </a:r>
          </a:p>
          <a:p>
            <a:pPr>
              <a:spcAft>
                <a:spcPts val="100"/>
              </a:spcAft>
              <a:defRPr sz="950">
                <a:latin typeface="Consolas"/>
              </a:defRPr>
            </a:pPr>
            <a:r>
              <a:rPr>
                <a:solidFill>
                  <a:srgbClr val="56B6C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7: Evaluation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XOR, Mirror, and Comparator Layout Benchmarks, Area, Parasitics, and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46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47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Process Design Kits &amp; Circuits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ASU 14nm: Predictive FinFET PDK.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SAED 14nm: Synopsys FinFET PDK.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Circuits: 2-Transistor Mirror, Differential Input Pair, 5-T OTA, Dynamic Comparator, XOR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120640" cy="493776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B2545"/>
                </a:solidFill>
                <a:latin typeface="Calibri"/>
              </a:defRPr>
            </a:pPr>
            <a:r>
              <a:t>Compute Specs &amp; Models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Compute Spec: Intel Core i9-12900K, 64GB RAM, RTX 3090 (24GB VRAM).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LLM Backends: Claude 3.5 Sonnet, GPT-4o, Llama-3-8B (Ollama Local).</a:t>
            </a:r>
          </a:p>
          <a:p>
            <a:pPr>
              <a:spcAft>
                <a:spcPts val="400"/>
              </a:spcAft>
              <a:defRPr sz="1200">
                <a:solidFill>
                  <a:srgbClr val="2B2B2B"/>
                </a:solidFill>
                <a:latin typeface="Calibri"/>
              </a:defRPr>
            </a:pPr>
            <a:r>
              <a:t>• EDA Tools: Synopsys Custom Compiler, Cadence Virtuoso, StarRC.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XOR Gate Layout - Symbolic 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48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xor_before_AI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(a) Initial unplaced symbolic grid.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xor_symbo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(b) Symbolic placement with abutment.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XOR Gate Layout - Schematic &amp; Compacted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49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xor_transisto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(c) Transistor schematic.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xor_k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(d) Final compacted GDSII cell in KLayout.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Current Mirror Layout - Symbolic 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50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rrent_mirror_before_AI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(a) Initial uncompacted placement.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urrent_mirror_symbo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(b) Abutted symbolic placement.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Current Mirror Layout - Schematic &amp; centroid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51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rrent_mirror_transisto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(c) Transistor schematic.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urrent_mirror_transistor_level_col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(d) Color-coded common-centroid plan.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Current Mirror Layout - Compacted &amp; EDA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52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rrent_mirror_k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(e) Compacted GDSII in KLayout.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urrent_mirror_from_custom_compi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(f) Imported OpenAccess cell view.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Evaluation: Dynamic Comparator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53</a:t>
            </a:fld>
            <a:endParaRPr lang="en-US" sz="100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rator_before_AI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463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(a) Initial unplaced schematic cells.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1444752"/>
            <a:ext cx="4937760" cy="4114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4937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ompa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4846320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2B2B"/>
                </a:solidFill>
                <a:latin typeface="Calibri"/>
              </a:defRPr>
            </a:pPr>
            <a:r>
              <a:t>(b) Final physical layout with snapping in KLayout.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Section 8: 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Core Contributions, Technical Challenges, and AI Routing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54</a:t>
            </a:fld>
            <a:endParaRPr lang="en-US" sz="1000">
              <a:latin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Conclusions &amp; Future Work: Technical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60175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>
                <a:solidFill>
                  <a:srgbClr val="808080"/>
                </a:solidFill>
                <a:latin typeface="Calibri"/>
              </a:defRPr>
            </a:pPr>
            <a:r>
              <a:t>AI-Based Analog Layout Automation | Ain Shams University &amp; SI-Vision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92240"/>
            <a:ext cx="37792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</a:t>
            </a:r>
            <a:fld id="{1F4E2DE4-8ADA-4D4E-9951-90A1D26586E7}" type="slidenum">
              <a:rPr lang="en-US" sz="1000" smtClean="0">
                <a:latin typeface="Calibri"/>
              </a:rPr>
              <a:t>55</a:t>
            </a:fld>
            <a:endParaRPr lang="en-US" sz="1000"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353312"/>
            <a:ext cx="33832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A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4B84"/>
                </a:solidFill>
                <a:latin typeface="Calibri"/>
              </a:defRPr>
            </a:pPr>
            <a:r>
              <a:t>1. AI-Guided Routing Agent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PDK Metal Track Snapping: Develop an AI router specialist that routes net paths on discrete metal layers.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Heuristic Routing: Uses A* search and maze routing guided by LLM-defined wire cost constraints.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Obstacle Clearance: Calculates optimal via placements and avoids pre-existing well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53312"/>
            <a:ext cx="33832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C5A059"/>
                </a:solidFill>
                <a:latin typeface="Calibri"/>
              </a:defRPr>
            </a:pPr>
            <a:r>
              <a:t>2. Thermal-Aware Layouts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Thermal Mismatch Planning: Models silicon hot-spots and schedules symmetrical devices to cancel mismatch.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2D Centroid Architectures: Proposes 2D common-centroid cross-coupled placement arrays.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Parasitic Balancing: Ensures identical trace lengths to balance active drain capacitances.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53312"/>
            <a:ext cx="3383280" cy="4846320"/>
          </a:xfrm>
          <a:prstGeom prst="round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C7C54"/>
                </a:solidFill>
                <a:latin typeface="Calibri"/>
              </a:defRPr>
            </a:pPr>
            <a:r>
              <a:t>3. Nanosheet vertical stacking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Nanosheet / CFET: Support vertical 3D transistor architectures where NMOS and PMOS gates stack vertically.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Vertical track limits: Extends snapping grid coordinates to include vertical routing clearances.</a:t>
            </a:r>
          </a:p>
          <a:p>
            <a:pPr>
              <a:spcAft>
                <a:spcPts val="600"/>
              </a:spcAft>
              <a:defRPr sz="1100">
                <a:solidFill>
                  <a:srgbClr val="2B2B2B"/>
                </a:solidFill>
                <a:latin typeface="Calibri"/>
              </a:defRPr>
            </a:pPr>
            <a:r>
              <a:t>• Automated Sub-5nm: Formulates compaction rules for sub-5nm restricted design rules.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B8847DB-DF07-1AE4-C85D-EB305172D8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2D568C"/>
                </a:solidFill>
              </a:rP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00400"/>
            <a:ext cx="6705295" cy="36576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5A059"/>
                </a:solidFill>
                <a:latin typeface="Calibri"/>
              </a:defRPr>
            </a:pPr>
            <a:r>
              <a:t>AI-Based Analog Layout Automation: A Conversational, Multi-Agent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0211" y="4389120"/>
            <a:ext cx="2771271" cy="543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2D568C"/>
                </a:solidFill>
              </a:rPr>
              <a:t> Ain Shams University &amp; SI-VISION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F0F4F8"/>
                </a:solidFill>
                <a:latin typeface="Calibri"/>
              </a:defRPr>
            </a:pPr>
            <a:endParaRPr dirty="0">
              <a:solidFill>
                <a:srgbClr val="2D568C"/>
              </a:solidFill>
            </a:endParaRPr>
          </a:p>
        </p:txBody>
      </p:sp>
      <p:pic>
        <p:nvPicPr>
          <p:cNvPr id="7" name="Picture 6" descr="ASU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135" y="4977634"/>
            <a:ext cx="1629736" cy="1698137"/>
          </a:xfrm>
          <a:prstGeom prst="rect">
            <a:avLst/>
          </a:prstGeom>
        </p:spPr>
      </p:pic>
      <p:pic>
        <p:nvPicPr>
          <p:cNvPr id="8" name="Picture 7" descr="SI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5883" y="4974789"/>
            <a:ext cx="1700981" cy="1700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5940</Words>
  <Application>Microsoft Office PowerPoint</Application>
  <PresentationFormat>Widescreen</PresentationFormat>
  <Paragraphs>625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Magdy Mohamed Ahmed 2100519</cp:lastModifiedBy>
  <cp:revision>2</cp:revision>
  <dcterms:created xsi:type="dcterms:W3CDTF">2013-01-27T09:14:16Z</dcterms:created>
  <dcterms:modified xsi:type="dcterms:W3CDTF">2026-06-20T01:07:32Z</dcterms:modified>
  <cp:category/>
</cp:coreProperties>
</file>